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8" d="100"/>
          <a:sy n="158" d="100"/>
        </p:scale>
        <p:origin x="188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50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502920"/>
            <a:ext cx="822960" cy="822960"/>
          </a:xfrm>
          <a:prstGeom prst="ellipse">
            <a:avLst/>
          </a:prstGeom>
          <a:solidFill>
            <a:srgbClr val="0A3A3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build/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70866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60520" y="502920"/>
            <a:ext cx="822960" cy="82296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9385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de Infraestrutura de Redes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578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 err="1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r>
              <a:rPr lang="en-US" sz="170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2700">
            <a:solidFill>
              <a:srgbClr val="1D5C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Ítalo Rangel Penaforte  ·  João de Sousa Lourenço  ·  Rodrigo Cattoi  ·  Rodrigo Lima  ·  Ryann Parreira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Orientador: Alexandre Teixeira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A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Sistemas de Informação  ·  Junho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</a:t>
            </a: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organizado</a:t>
            </a: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</a:t>
            </a: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86200" cy="1536192"/>
          </a:xfrm>
          <a:prstGeom prst="roundRect">
            <a:avLst>
              <a:gd name="adj" fmla="val 4167"/>
            </a:avLst>
          </a:prstGeom>
          <a:solidFill>
            <a:srgbClr val="EFF6F6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49961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7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build/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470" y="16573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048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Topologia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3408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tema, inventário de dispositivos e simulação da rede no Cisco Packet Tracer.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371600"/>
            <a:ext cx="3886200" cy="1536192"/>
          </a:xfrm>
          <a:prstGeom prst="roundRect">
            <a:avLst>
              <a:gd name="adj" fmla="val 4167"/>
            </a:avLst>
          </a:prstGeom>
          <a:solidFill>
            <a:srgbClr val="EFF6F6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846320" y="149961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7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781812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/tmp/build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990" y="165735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2048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 e Nuvem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46320" y="23408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dos serviços on-premise (VirtualBox) e em nuvem (AWS).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886200" cy="1536192"/>
          </a:xfrm>
          <a:prstGeom prst="roundRect">
            <a:avLst>
              <a:gd name="adj" fmla="val 4167"/>
            </a:avLst>
          </a:prstGeom>
          <a:solidFill>
            <a:srgbClr val="EFF6F6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685800" y="32369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7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365760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/tmp/build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470" y="33947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37856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85800" y="407822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da rede com Zabbix, via protocolos Agent e SNMP.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17720" y="3108960"/>
            <a:ext cx="3886200" cy="1536192"/>
          </a:xfrm>
          <a:prstGeom prst="roundRect">
            <a:avLst>
              <a:gd name="adj" fmla="val 4167"/>
            </a:avLst>
          </a:prstGeom>
          <a:solidFill>
            <a:srgbClr val="EFF6F6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4846320" y="32369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7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Shape 19"/>
          <p:cNvSpPr/>
          <p:nvPr/>
        </p:nvSpPr>
        <p:spPr>
          <a:xfrm>
            <a:off x="781812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/tmp/build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990" y="339471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37856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846320" y="407822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vulnerabilidades OWASP, deploy do back-end, PSI e Cartilha.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PLANEJAMENTO E TOPOLOGIA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 do Tema e Planejamento da Rede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build/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5201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807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61848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e implementar a infraestrutura de rede do Hospital Campinas Saúde, com alta disponibilidade entre a unidade Matriz e as UPAs.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tmp/build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24345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2951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por Departamento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8992" y="253288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organizados em VLANs (Recepção, PS, UTI, Radiologia, Centro Cirúrgico, TI) para segurança dos dados dos pacientes.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tmp/build/icons/projec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3489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2095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da Topologia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44728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rede — roteadores, switches e hosts — foi simulada na ferramenta Cisco Packet Tracer.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532120" y="1417320"/>
            <a:ext cx="3154680" cy="3246120"/>
          </a:xfrm>
          <a:prstGeom prst="roundRect">
            <a:avLst>
              <a:gd name="adj" fmla="val 2029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571500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Unidades Interligadas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 flipH="1">
            <a:off x="6217920" y="2468880"/>
            <a:ext cx="960120" cy="905256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7178040" y="2468880"/>
            <a:ext cx="1051560" cy="9144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812280" y="21031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tmp/build/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286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2862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(Core)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3063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Campinas/SP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728716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/tmp/build/icons/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552444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77256" y="4046281"/>
            <a:ext cx="10515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 Ouro Verde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955280" y="3477415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5" descr="/tmp/build/icons/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4" y="3600859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03820" y="4012339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 Campo Grande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INVENTÁRIO E ENDEREÇAMENTO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Dispositivos e Faixas de Endereçamento IP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12064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Matriz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 Ouro Verde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 Campo Grande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 REDE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34015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Endereçamento por Unidade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5120640" cy="10241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Matriz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 Ouro Verde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 Campo Grande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1463040"/>
            <a:ext cx="2880360" cy="3291840"/>
          </a:xfrm>
          <a:prstGeom prst="roundRect">
            <a:avLst>
              <a:gd name="adj" fmla="val 2222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053328" y="1682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LINK</a:t>
            </a:r>
            <a:endParaRPr lang="en-US" sz="1000" dirty="0"/>
          </a:p>
        </p:txBody>
      </p:sp>
      <p:sp>
        <p:nvSpPr>
          <p:cNvPr id="6" name="Text 5"/>
          <p:cNvSpPr/>
          <p:nvPr/>
        </p:nvSpPr>
        <p:spPr>
          <a:xfrm>
            <a:off x="6053328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162,8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053328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de capacidade de Internet calculada para a Matriz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53328" y="3291840"/>
            <a:ext cx="2395728" cy="0"/>
          </a:xfrm>
          <a:prstGeom prst="line">
            <a:avLst/>
          </a:prstGeom>
          <a:noFill/>
          <a:ln w="12700">
            <a:solidFill>
              <a:srgbClr val="D5E8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6053328" y="3401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38,4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6053328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de link dedicado Matriz ↔ cada UPA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SIMULAÇÃO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 Simulada no Cisco Packet Tracer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build/icon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6116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721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Central 2811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70992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Matriz às UPAs via links dedicados, com NAT e gateway 192.168.0.1.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tmp/build/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25260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3865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por Setor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8992" y="262432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departamento (PS, UTI, Centro Cirúrgico, TI...) possui seu próprio switch de acesso.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tmp/build/icons/deskto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4404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30098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Hosts Simulados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53872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Computadores, impressoras e servidores representados fielmente no Packet Tracer.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977640" y="1417320"/>
            <a:ext cx="4709160" cy="3337560"/>
          </a:xfrm>
          <a:prstGeom prst="roundRect">
            <a:avLst>
              <a:gd name="adj" fmla="val 1918"/>
            </a:avLst>
          </a:prstGeom>
          <a:solidFill>
            <a:srgbClr val="FAFCFC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/tmp/build/imgs/e1_matriz-00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14800" y="1536192"/>
            <a:ext cx="4434840" cy="31089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14800" y="452628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da Matriz — Hospital Campinas Saúde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tmp/build/imgs/e2_arch-000.png"/>
          <p:cNvPicPr>
            <a:picLocks noChangeAspect="1"/>
          </p:cNvPicPr>
          <p:nvPr/>
        </p:nvPicPr>
        <p:blipFill>
          <a:blip r:embed="rId3"/>
          <a:srcRect t="-11224" b="-11224"/>
          <a:stretch/>
        </p:blipFill>
        <p:spPr>
          <a:xfrm>
            <a:off x="1864074" y="920456"/>
            <a:ext cx="5415852" cy="422304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VIRTUALIZAÇÃO E NUVEM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Híbrida: On-Premise + AWS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críticos de rede residem na infraestrutura física da Matriz (VirtualBox), enquanto o sistema de prontuários e o banco de dados ficam disponíveis na nuvem (AWS) para acesso de todas as unidades.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AMBIENTE ON-PREMISE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VirtualBox: Servidor da Matriz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build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6116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7218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— isc-dhcp-server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709928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IPs automaticamente nas 3 sub-redes (Matriz, UPA1, UPA2), a partir do host .50, preservando IPs fixos de infraestrutura.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tmp/build/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25717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43230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Interno — BIND9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8992" y="2670048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nomes do domínio hospital.local (matriz, upa1, upa2, ns, www) para os respectivos IPs internos.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tmp/build/icons/fold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5318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39242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Arquivos — Samba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630168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compartilhamentos segmentados: Prontuários, Administrativo e TI, com acesso controlado por setor.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06440" y="1508760"/>
            <a:ext cx="2880360" cy="3246120"/>
          </a:xfrm>
          <a:prstGeom prst="roundRect">
            <a:avLst>
              <a:gd name="adj" fmla="val 2222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603504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VIRTUAL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0350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99516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22.04 LTS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3504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99516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MB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035040" y="27797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995160" y="2779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GB (dinâmico)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035040" y="3163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995160" y="3163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+ Interna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035040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FIXO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99516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192.168.0.1/24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AMBIENTE EM NUVEM (AWS)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EC2: Sistema de Prontuários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build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6116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721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t2.micro (Free Tier)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709928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Ubuntu 22.04 na região us-east-1, com portas 22 (SSH) e 80 (HTTP) liberadas.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tmp/build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26174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4780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PHP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8992" y="2715768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que hospeda a página de status do sistema, acessível pelas três unidades via internet.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tmp/build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6233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48386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na própria EC2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721608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RDS não estava disponível na conta acadêmica, o banco foi instalado localmente, mantendo o BD centralizado na nuvem.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434840" y="1417320"/>
            <a:ext cx="4251960" cy="3383280"/>
          </a:xfrm>
          <a:prstGeom prst="roundRect">
            <a:avLst>
              <a:gd name="adj" fmla="val 1892"/>
            </a:avLst>
          </a:prstGeom>
          <a:solidFill>
            <a:srgbClr val="FAFCFC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/tmp/build/imgs/e2_webapp-001.png"/>
          <p:cNvPicPr>
            <a:picLocks noChangeAspect="1"/>
          </p:cNvPicPr>
          <p:nvPr/>
        </p:nvPicPr>
        <p:blipFill>
          <a:blip r:embed="rId6"/>
          <a:srcRect t="-16464" b="-16464"/>
          <a:stretch/>
        </p:blipFill>
        <p:spPr>
          <a:xfrm>
            <a:off x="4544568" y="1527048"/>
            <a:ext cx="4023360" cy="31089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44568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 — Campinas Saúde (AWS)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MONITORAMENTO COM ZABBIX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Instâncias, Dois Protocolos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172.31.16.76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+ MySQL + Nginx + 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172.31.26.201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monitorado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 Agent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(TCP 10050)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AWS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172.31.10.186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monitorado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 v2c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(UDP 161)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Operacional: Ubuntu 24.04 LTS (Noble)  ·  Versão do Zabbix: 7.4.10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build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83" y="4207383"/>
            <a:ext cx="226314" cy="226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3272" y="407822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Completa do Ambiente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33272" y="4315968"/>
            <a:ext cx="3355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combinação de agente e SNMP demonstra a flexibilidade do Zabbix para diferentes cenários de infraestrutura.</a:t>
            </a:r>
            <a:endParaRPr lang="en-US" sz="1050" dirty="0"/>
          </a:p>
        </p:txBody>
      </p:sp>
      <p:sp>
        <p:nvSpPr>
          <p:cNvPr id="4" name="Shape 6"/>
          <p:cNvSpPr/>
          <p:nvPr/>
        </p:nvSpPr>
        <p:spPr>
          <a:xfrm>
            <a:off x="4663440" y="4114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023" y="4207383"/>
            <a:ext cx="226314" cy="2263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39512" y="407822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para Dispositivos sem Agente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239512" y="4315968"/>
            <a:ext cx="3447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ambientes reais, o SNMP monitora switches, roteadores e impressoras que não suportam instalação de agentes.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HOSTS E PROTOCOLOS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 Agent 2 vs. SNMP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554480"/>
          </a:xfrm>
          <a:prstGeom prst="roundRect">
            <a:avLst>
              <a:gd name="adj" fmla="val 4118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tmp/build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177736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Agent 2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métricas diretamente do SO monitorado, com alta precisão e baixo overhead. Instalado na porta TCP 10050.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463040"/>
            <a:ext cx="4069080" cy="1554480"/>
          </a:xfrm>
          <a:prstGeom prst="roundRect">
            <a:avLst>
              <a:gd name="adj" fmla="val 4118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846320" y="16642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477" y="1777365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v2c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46320" y="22128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padrão de mercado, ideal para dispositivos de rede. Community "public", consultas via porta UDP 161.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8229600" cy="1600200"/>
          </a:xfrm>
          <a:prstGeom prst="roundRect">
            <a:avLst>
              <a:gd name="adj" fmla="val 4000"/>
            </a:avLst>
          </a:prstGeom>
          <a:solidFill>
            <a:srgbClr val="FAFCFC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/tmp/build/imgs/e3_hosts_crop.png"/>
          <p:cNvPicPr>
            <a:picLocks noChangeAspect="1"/>
          </p:cNvPicPr>
          <p:nvPr/>
        </p:nvPicPr>
        <p:blipFill>
          <a:blip r:embed="rId5"/>
          <a:srcRect t="15490" b="-48104"/>
          <a:stretch>
            <a:fillRect/>
          </a:stretch>
        </p:blipFill>
        <p:spPr>
          <a:xfrm>
            <a:off x="502920" y="3218688"/>
            <a:ext cx="8229600" cy="2471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VISUALIZAÇÃO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 Mapa de Monitoramento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build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5659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2646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em Tempo Real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66420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memória, disco, rede, uptime e disponibilidade de cada servidor monitorado.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tmp/build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24345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295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Ativos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78992" y="253288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triggers configuradas, com severidade e status de resolução visíveis no dashboard.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tmp/build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3032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1638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Rede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40156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mudam de cor automaticamente: verde para disponível, vermelho para problema detectado.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886200" y="1417320"/>
            <a:ext cx="4800600" cy="3337560"/>
          </a:xfrm>
          <a:prstGeom prst="roundRect">
            <a:avLst>
              <a:gd name="adj" fmla="val 1918"/>
            </a:avLst>
          </a:prstGeom>
          <a:solidFill>
            <a:srgbClr val="FAFCFC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/tmp/build/imgs/e3_dashboard-00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23360" y="1527048"/>
            <a:ext cx="4526280" cy="2194560"/>
          </a:xfrm>
          <a:prstGeom prst="rect">
            <a:avLst/>
          </a:prstGeom>
        </p:spPr>
      </p:pic>
      <p:pic>
        <p:nvPicPr>
          <p:cNvPr id="18" name="Image 4" descr="/tmp/build/imgs/e3_map_crop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23360" y="3794760"/>
            <a:ext cx="4526280" cy="8686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APLICAÇÃO E DEPLOY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Campinas Saúde API — Amazon ECS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663440" cy="208483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ECS (Elastic Container Service)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Público / 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3.229.138.132 : 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 on Rails 8.1.3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(sem TLS/SSL)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40680" y="1463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do Sistema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40680" y="181051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build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091" y="1896923"/>
            <a:ext cx="211226" cy="211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94360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 rede hospitalar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40680" y="2377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desk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091" y="2463851"/>
            <a:ext cx="211226" cy="2112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0" y="23500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150" dirty="0"/>
          </a:p>
        </p:txBody>
      </p:sp>
      <p:sp>
        <p:nvSpPr>
          <p:cNvPr id="4" name="Text 8"/>
          <p:cNvSpPr/>
          <p:nvPr/>
        </p:nvSpPr>
        <p:spPr>
          <a:xfrm>
            <a:off x="594360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consulta e edição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440680" y="29443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/tmp/build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091" y="3030779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9169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943600" y="3127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(Manchester) e status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440680" y="351129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/tmp/build/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091" y="3597707"/>
            <a:ext cx="211226" cy="2112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43600" y="3483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943600" y="3694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 entre unidades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REST cobrem unidades, pacientes, atendimentos e transferências — refletindo o fluxo real de uma rede hospitalar.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ANÁLISE DE VULNERABILIDADES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 (2025): 3 Riscos Identificados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A01:2025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Quebra de Controle de Acesso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A02:2025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 Criptográficas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A05:2025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 Incorreta de Segurança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Estratégias de Mitigação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build/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83" y="3841623"/>
            <a:ext cx="226314" cy="226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3272" y="3712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RBAC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33272" y="395020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JWT/Devise + Pundit, perfis por função e por unidade.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46120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703" y="3841623"/>
            <a:ext cx="226314" cy="2263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22192" y="3712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(TLS)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822192" y="395020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HSTS e criptografia de campos sensíveis.</a:t>
            </a:r>
            <a:endParaRPr lang="en-US" sz="1000" dirty="0"/>
          </a:p>
        </p:txBody>
      </p:sp>
      <p:sp>
        <p:nvSpPr>
          <p:cNvPr id="4" name="Shape 9"/>
          <p:cNvSpPr/>
          <p:nvPr/>
        </p:nvSpPr>
        <p:spPr>
          <a:xfrm>
            <a:off x="6035040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/tmp/build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623" y="3841623"/>
            <a:ext cx="226314" cy="2263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1112" y="371246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do Servidor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611112" y="3950208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reverso, firewall e rate limiting (rack-attack).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GOVERNANÇA E CONSCIENTIZAÇÃO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Segurança e Cartilha de Boas Práticas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337560"/>
          </a:xfrm>
          <a:prstGeom prst="roundRect">
            <a:avLst>
              <a:gd name="adj" fmla="val 1918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tmp/build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177736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Segurança (PSI)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informação em 4 níveis (Confidencial, Restrito, Interno, Público)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 por função: Médico, Enfermeiro, Recepcionista, Gestor, TI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10+ caracteres e troca obrigatória a cada 90 dias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LGPD e ABNT NBR ISO/IEC 27001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3337560"/>
          </a:xfrm>
          <a:prstGeom prst="roundRect">
            <a:avLst>
              <a:gd name="adj" fmla="val 1918"/>
            </a:avLst>
          </a:prstGeom>
          <a:solidFill>
            <a:srgbClr val="F5FAFA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892040" y="16642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user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197" y="1777365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Cartilha de Boas Práticas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linguagem simples, voltado a todos os colaboradores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Mandamentos da Segurança: senhas, bloqueio de tela, phishing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redobrado com dados sensíveis de pacientes (LGPD)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claro de resposta a incidentes de segurança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 ·  PROJETO DE INFRAESTRUTURA DE REDES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22960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Topologia à Segurança: um Projeto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0A3A3D"/>
          </a:solidFill>
          <a:ln w="9525">
            <a:solidFill>
              <a:srgbClr val="1D5C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tmp/build/icons/sitema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21705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planejada e simulada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hosts em 3 unidades interligadas no Packet Tracer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0A3A3D"/>
          </a:solidFill>
          <a:ln w="9525">
            <a:solidFill>
              <a:srgbClr val="1D5C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892040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tmp/build/icons/clou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197" y="21705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implantada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2120" y="21305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on-premise (VirtualBox) e em nuvem (AWS) ativos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0A3A3D"/>
          </a:solidFill>
          <a:ln w="9525">
            <a:solidFill>
              <a:srgbClr val="1D5C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tmp/build/icons/char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957" y="381647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monitorado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776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acompanhando 3 servidores via Agent e SNMP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0A3A3D"/>
          </a:solidFill>
          <a:ln w="9525">
            <a:solidFill>
              <a:srgbClr val="1D5C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489204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tmp/build/icons/shield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197" y="38164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analisada e documentada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2120" y="3776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10, deploy seguro, PSI e Cartilha de Boas Práticas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Campinas Saúde — Projeto de Infraestrutura de Redes — Curso de Sistemas de Informação —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1415</Words>
  <Application>Microsoft Office PowerPoint</Application>
  <PresentationFormat>Apresentação na tela (16:9)</PresentationFormat>
  <Paragraphs>264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Infraestrutura de Redes - Apresentação Final</dc:title>
  <dc:subject>PptxGenJS Presentation</dc:subject>
  <dc:creator>Hospital Campinas Saúde</dc:creator>
  <cp:lastModifiedBy>João Lourenço</cp:lastModifiedBy>
  <cp:revision>2</cp:revision>
  <dcterms:created xsi:type="dcterms:W3CDTF">2026-06-17T22:45:49Z</dcterms:created>
  <dcterms:modified xsi:type="dcterms:W3CDTF">2026-06-17T23:08:56Z</dcterms:modified>
</cp:coreProperties>
</file>